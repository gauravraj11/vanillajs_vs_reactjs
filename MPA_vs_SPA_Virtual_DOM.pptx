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 Reloads Everything.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9E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Only Updates What Changed.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 multi-page sites vs. React single-page apps — and why the Virtual DOM matters.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 We're Building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on top, a left navbar, a right navbar, a footer at the bottom — and a center area that changes per page.</a:t>
            </a:r>
            <a:endParaRPr lang="en-US" sz="1300" dirty="0"/>
          </a:p>
        </p:txBody>
      </p:sp>
      <p:pic>
        <p:nvPicPr>
          <p:cNvPr id="4" name="Image 0" descr="/home/claude/shots6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280160"/>
            <a:ext cx="6858000" cy="42702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5623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home.html — the Home page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Vanilla Way: 3 Separate HTML Files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20440" cy="48463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home.html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258568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58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Navbar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825496"/>
            <a:ext cx="3246120" cy="777240"/>
          </a:xfrm>
          <a:prstGeom prst="roundRect">
            <a:avLst>
              <a:gd name="adj" fmla="val 4706"/>
            </a:avLst>
          </a:prstGeom>
          <a:solidFill>
            <a:srgbClr val="EAF7FC"/>
          </a:solidFill>
          <a:ln w="16510">
            <a:solidFill>
              <a:srgbClr val="149E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2549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5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Content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5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(home)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712464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7124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Navbar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4279392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279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1188720"/>
            <a:ext cx="3520440" cy="48463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1280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1691640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1691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34840" y="2258568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34840" y="2258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Navbar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34840" y="2825496"/>
            <a:ext cx="3246120" cy="777240"/>
          </a:xfrm>
          <a:prstGeom prst="roundRect">
            <a:avLst>
              <a:gd name="adj" fmla="val 4706"/>
            </a:avLst>
          </a:prstGeom>
          <a:solidFill>
            <a:srgbClr val="EAF7FC"/>
          </a:solidFill>
          <a:ln w="16510">
            <a:solidFill>
              <a:srgbClr val="149E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4840" y="282549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5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Content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5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(about)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3712464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37124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Navbar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4279392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34840" y="4279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1188720"/>
            <a:ext cx="3520440" cy="48463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1280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83880" y="1691640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83880" y="1691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83880" y="2258568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2258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Navbar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83880" y="2825496"/>
            <a:ext cx="3246120" cy="777240"/>
          </a:xfrm>
          <a:prstGeom prst="roundRect">
            <a:avLst>
              <a:gd name="adj" fmla="val 4706"/>
            </a:avLst>
          </a:prstGeom>
          <a:solidFill>
            <a:srgbClr val="EAF7FC"/>
          </a:solidFill>
          <a:ln w="16510">
            <a:solidFill>
              <a:srgbClr val="149EC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83880" y="282549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5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Content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5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(contact)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83880" y="3712464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83880" y="37124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Navbar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83880" y="4279392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83880" y="4279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🟨 Same header / navbars / footer code, copy-pasted into all 3 files.   🟦 Only this part actually differs.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Click “About”? (Vanilla)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031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click &lt;a href="about.html"&gt;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" y="173736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0313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057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THROWS AWAY the entire current page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0100" y="256032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0313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80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fresh HTTP request for about.html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0100" y="338328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703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0313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703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WHOLE file again — header, navbars, footer included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0100" y="420624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526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0313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Re-parses and re-renders EVERYTHING from scratch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0F0"/>
          </a:solidFill>
          <a:ln w="19050">
            <a:solidFill>
              <a:srgbClr val="E0313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623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Result: a visible flash/reload. Every navigation re-downloads and re-builds the header, both navbars, and the footer — even though none of them changed.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Page Load — Vanilla HTML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956816" y="18288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6510">
            <a:solidFill>
              <a:srgbClr val="F0A20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29968" y="18288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requests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home.html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785616" y="18288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05656" y="18288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6510">
            <a:solidFill>
              <a:srgbClr val="F0A20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78808" y="18288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full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34456" y="18288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54496" y="18288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6510">
            <a:solidFill>
              <a:srgbClr val="F0A20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7648" y="18288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HTML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 bottom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083296" y="18288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403336" y="18288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0A202"/>
          </a:solidFill>
          <a:ln w="16510">
            <a:solidFill>
              <a:srgbClr val="F0A20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76488" y="18288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Paints header,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navbars, footer,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— all together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371600" y="3383280"/>
            <a:ext cx="9418320" cy="2377440"/>
          </a:xfrm>
          <a:prstGeom prst="roundRect">
            <a:avLst>
              <a:gd name="adj" fmla="val 2308"/>
            </a:avLst>
          </a:prstGeom>
          <a:solidFill>
            <a:srgbClr val="FFF8EC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45920" y="3566160"/>
            <a:ext cx="8869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simple: the browser already understands HTML — no extra download needed to “build” anything.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page — header, navbars, footer, AND center — appears together in one paint.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this ENTIRE process repeats, from scratch, every single time the user clicks a link.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the header, both navbars, and the footer were written only ONCE…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9E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clicking “About” only swapped the small piece in the middle?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React's component model gives you.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 Way: One Shell, Swappable Center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937760" y="109728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93776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&lt;App /&gt;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80760" y="1645920"/>
            <a:ext cx="-4617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1645920"/>
            <a:ext cx="-27889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1645920"/>
            <a:ext cx="-594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1645920"/>
            <a:ext cx="2240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645920"/>
            <a:ext cx="40690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645920"/>
            <a:ext cx="0" cy="3200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659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4F6FC"/>
          </a:solidFill>
          <a:ln w="19050">
            <a:solidFill>
              <a:srgbClr val="6C757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 /&gt;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ONCE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645920"/>
            <a:ext cx="0" cy="3200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19659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4F6FC"/>
          </a:solidFill>
          <a:ln w="19050">
            <a:solidFill>
              <a:srgbClr val="6C75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&lt;LeftNav /&gt;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ONCE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1645920"/>
            <a:ext cx="0" cy="3200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96596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EAF7FC"/>
          </a:solidFill>
          <a:ln w="19050">
            <a:solidFill>
              <a:srgbClr val="149EC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5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currentPage }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49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SWAPS: Home / About / Contact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0" y="1645920"/>
            <a:ext cx="0" cy="3200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9659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4F6FC"/>
          </a:solidFill>
          <a:ln w="19050">
            <a:solidFill>
              <a:srgbClr val="6C757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&lt;RightNav /&gt;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ONCE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58400" y="1645920"/>
            <a:ext cx="0" cy="3200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19659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4F6FC"/>
          </a:solidFill>
          <a:ln w="19050">
            <a:solidFill>
              <a:srgbClr val="6C757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 /&gt;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ONCE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188720" y="3520440"/>
            <a:ext cx="9784080" cy="2651760"/>
          </a:xfrm>
          <a:prstGeom prst="roundRect">
            <a:avLst>
              <a:gd name="adj" fmla="val 206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17320" y="3703320"/>
            <a:ext cx="9326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LeftNav, RightNav, and Footer are written as components ONE time, in one project.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“About” doesn't navigate to a new file — it just changes a piece of STATE (currentPage = "about").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re-renders only the part of the tree connected to that state — everything else is left completely alone.</a:t>
            </a:r>
            <a:endParaRPr lang="en-US" sz="1350" dirty="0"/>
          </a:p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 Single Page Application (SPA) — there really is only ONE html file (index.html).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Looks Like in Code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80160" y="1051560"/>
            <a:ext cx="9601200" cy="5532120"/>
          </a:xfrm>
          <a:prstGeom prst="roundRect">
            <a:avLst>
              <a:gd name="adj" fmla="val 992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508760" y="1234440"/>
            <a:ext cx="914400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[currentPage, setCurrentPage] = React.useState("home");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&lt;Header /&gt;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className="main-row"&gt;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&lt;LeftNav onNavigate={setCurrentPage} active={currentPage} /&gt;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{currentPage === "home"    &amp;&amp; &lt;Home /&gt;}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{currentPage === "about"   &amp;&amp; &lt;About /&gt;}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{currentPage === "contact" &amp;&amp; &lt;Contact /&gt;}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&lt;RightNav /&gt;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&lt;/div&gt;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&lt;Footer /&gt;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Page Load — React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82396" y="18288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6510">
            <a:solidFill>
              <a:srgbClr val="149EC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5548" y="18288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requests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(nearly empty)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711196" y="18288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031236" y="18288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6510">
            <a:solidFill>
              <a:srgbClr val="149E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4388" y="18288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bundle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860036" y="18288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80076" y="18288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6510">
            <a:solidFill>
              <a:srgbClr val="149E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3228" y="18288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runs, builds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DOM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008876" y="18288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28916" y="18288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4F6FC"/>
          </a:solidFill>
          <a:ln w="16510">
            <a:solidFill>
              <a:srgbClr val="149E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2068" y="18288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mounts 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real DOM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57716" y="182880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77756" y="182880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149ECA"/>
          </a:solidFill>
          <a:ln w="16510">
            <a:solidFill>
              <a:srgbClr val="149E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50908" y="18288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navbars,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footer, center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appear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" y="3383280"/>
            <a:ext cx="10149840" cy="2468880"/>
          </a:xfrm>
          <a:prstGeom prst="roundRect">
            <a:avLst>
              <a:gd name="adj" fmla="val 2222"/>
            </a:avLst>
          </a:prstGeom>
          <a:solidFill>
            <a:srgbClr val="EAF7FC"/>
          </a:solidFill>
          <a:ln w="12700">
            <a:solidFill>
              <a:srgbClr val="149E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356616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trade-off: there's one extra step here — downloading and running the JS bundle — so the very FIRST load can feel a touch slower than plain HTML.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that cost is paid only ONCE. After this, the header/navbars/footer never have to be rebuilt again.</a:t>
            </a:r>
            <a:endParaRPr lang="en-US" sz="1350" dirty="0"/>
          </a:p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after this point skips straight to step 3 — no new HTML request at all.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Click “About”? (React)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9E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 a &lt;LeftNav&gt; link — no href, no page navigation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" y="173736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9E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057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setCurrentPage("about") runs — a piece of STATE changes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0100" y="256032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9E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80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builds a new Virtual DOM tree in memory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0100" y="338328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703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9E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703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compares (“diffs”) it against the previous Virtual DOM tree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0100" y="420624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526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9E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ONE changed node is patched into the real DOM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0FBF0"/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623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Result: no flash, no reload, no new HTTP request for a page. The header, both navbars, and the footer are never touched — only the center content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Virtual DOM Diff — Only Update What Changed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DOM — BEFORE (Home)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1463040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1651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029968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1651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029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LeftNav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596896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868E96"/>
          </a:solidFill>
          <a:ln w="16510">
            <a:solidFill>
              <a:srgbClr val="868E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5968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255264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165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255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RightNav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822192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165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822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DOM — AFTER (About)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1463040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165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2029968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165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2029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LeftNav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2596896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149ECA"/>
          </a:solidFill>
          <a:ln w="16510">
            <a:solidFill>
              <a:srgbClr val="149EC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25968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3255264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165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0" y="3255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RightNav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822192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165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3822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5840" y="4434840"/>
            <a:ext cx="10149840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34440" y="457200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compares the old and new Virtual DOM trees node by node.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LeftNav, RightNav, and Footer come back identical — React ignores them completely.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center node is different, so only that one small patch gets applied to the REAL browser DOM.</a:t>
            </a:r>
            <a:endParaRPr lang="en-US" sz="1300" dirty="0"/>
          </a:p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diff-then-patch strategy is the Virtual DOM — the whole reason React feels instant.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Multi-Page Site vs. React SPA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051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2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 (Multi-Page App)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051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9E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(Single-Page App)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60320" cy="585216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6002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files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1600200"/>
            <a:ext cx="4206240" cy="585216"/>
          </a:xfrm>
          <a:prstGeom prst="roundRect">
            <a:avLst>
              <a:gd name="adj" fmla="val 6250"/>
            </a:avLst>
          </a:prstGeom>
          <a:solidFill>
            <a:srgbClr val="FFF8EC"/>
          </a:solidFill>
          <a:ln w="9525">
            <a:solidFill>
              <a:srgbClr val="F0A20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18688" y="1600200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separate files (home/about/contact.html)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1600200"/>
            <a:ext cx="4297680" cy="585216"/>
          </a:xfrm>
          <a:prstGeom prst="roundRect">
            <a:avLst>
              <a:gd name="adj" fmla="val 6250"/>
            </a:avLst>
          </a:prstGeom>
          <a:solidFill>
            <a:srgbClr val="EAF7FC"/>
          </a:solidFill>
          <a:ln w="9525">
            <a:solidFill>
              <a:srgbClr val="149E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16368" y="160020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file (index.html)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2560320" cy="585216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23500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Header/navbar/footer code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8960" y="2350008"/>
            <a:ext cx="4206240" cy="585216"/>
          </a:xfrm>
          <a:prstGeom prst="roundRect">
            <a:avLst>
              <a:gd name="adj" fmla="val 6250"/>
            </a:avLst>
          </a:prstGeom>
          <a:solidFill>
            <a:srgbClr val="FFF8EC"/>
          </a:solidFill>
          <a:ln w="9525">
            <a:solidFill>
              <a:srgbClr val="F0A20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18688" y="2350008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Copy-pasted into every file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2350008"/>
            <a:ext cx="4297680" cy="585216"/>
          </a:xfrm>
          <a:prstGeom prst="roundRect">
            <a:avLst>
              <a:gd name="adj" fmla="val 6250"/>
            </a:avLst>
          </a:prstGeom>
          <a:solidFill>
            <a:srgbClr val="EAF7FC"/>
          </a:solidFill>
          <a:ln w="9525">
            <a:solidFill>
              <a:srgbClr val="149E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16368" y="2350008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once, as components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99816"/>
            <a:ext cx="2560320" cy="585216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09981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clicking a nav link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08960" y="3099816"/>
            <a:ext cx="4206240" cy="585216"/>
          </a:xfrm>
          <a:prstGeom prst="roundRect">
            <a:avLst>
              <a:gd name="adj" fmla="val 6250"/>
            </a:avLst>
          </a:prstGeom>
          <a:solidFill>
            <a:srgbClr val="FFF8EC"/>
          </a:solidFill>
          <a:ln w="9525">
            <a:solidFill>
              <a:srgbClr val="F0A20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18688" y="3099816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 reload (new HTTP request)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3099816"/>
            <a:ext cx="4297680" cy="585216"/>
          </a:xfrm>
          <a:prstGeom prst="roundRect">
            <a:avLst>
              <a:gd name="adj" fmla="val 6250"/>
            </a:avLst>
          </a:prstGeom>
          <a:solidFill>
            <a:srgbClr val="EAF7FC"/>
          </a:solidFill>
          <a:ln w="9525">
            <a:solidFill>
              <a:srgbClr val="149EC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16368" y="309981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state changes — no reload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49624"/>
            <a:ext cx="2560320" cy="585216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384962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re-renders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108960" y="3849624"/>
            <a:ext cx="4206240" cy="585216"/>
          </a:xfrm>
          <a:prstGeom prst="roundRect">
            <a:avLst>
              <a:gd name="adj" fmla="val 6250"/>
            </a:avLst>
          </a:prstGeom>
          <a:solidFill>
            <a:srgbClr val="FFF8EC"/>
          </a:solidFill>
          <a:ln w="9525">
            <a:solidFill>
              <a:srgbClr val="F0A20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18688" y="3849624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header, navbars, footer, center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06640" y="3849624"/>
            <a:ext cx="4297680" cy="585216"/>
          </a:xfrm>
          <a:prstGeom prst="roundRect">
            <a:avLst>
              <a:gd name="adj" fmla="val 6250"/>
            </a:avLst>
          </a:prstGeom>
          <a:solidFill>
            <a:srgbClr val="EAF7FC"/>
          </a:solidFill>
          <a:ln w="9525">
            <a:solidFill>
              <a:srgbClr val="149EC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16368" y="3849624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center content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599432"/>
            <a:ext cx="2560320" cy="585216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6928" y="45994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load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108960" y="4599432"/>
            <a:ext cx="4206240" cy="585216"/>
          </a:xfrm>
          <a:prstGeom prst="roundRect">
            <a:avLst>
              <a:gd name="adj" fmla="val 6250"/>
            </a:avLst>
          </a:prstGeom>
          <a:solidFill>
            <a:srgbClr val="FFF8EC"/>
          </a:solidFill>
          <a:ln w="9525">
            <a:solidFill>
              <a:srgbClr val="F0A20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18688" y="4599432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fast — just parse HTML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06640" y="4599432"/>
            <a:ext cx="4297680" cy="585216"/>
          </a:xfrm>
          <a:prstGeom prst="roundRect">
            <a:avLst>
              <a:gd name="adj" fmla="val 6250"/>
            </a:avLst>
          </a:prstGeom>
          <a:solidFill>
            <a:srgbClr val="EAF7FC"/>
          </a:solidFill>
          <a:ln w="9525">
            <a:solidFill>
              <a:srgbClr val="149EC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16368" y="4599432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delay — JS bundle must load first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349240"/>
            <a:ext cx="2560320" cy="585216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66928" y="534924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load after that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108960" y="5349240"/>
            <a:ext cx="4206240" cy="585216"/>
          </a:xfrm>
          <a:prstGeom prst="roundRect">
            <a:avLst>
              <a:gd name="adj" fmla="val 6250"/>
            </a:avLst>
          </a:prstGeom>
          <a:solidFill>
            <a:srgbClr val="FFF8EC"/>
          </a:solidFill>
          <a:ln w="9525">
            <a:solidFill>
              <a:srgbClr val="F0A20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18688" y="5349240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full process again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0" y="5349240"/>
            <a:ext cx="4297680" cy="585216"/>
          </a:xfrm>
          <a:prstGeom prst="roundRect">
            <a:avLst>
              <a:gd name="adj" fmla="val 6250"/>
            </a:avLst>
          </a:prstGeom>
          <a:solidFill>
            <a:srgbClr val="EAF7FC"/>
          </a:solidFill>
          <a:ln w="9525">
            <a:solidFill>
              <a:srgbClr val="149EC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16368" y="534924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no HTML re-download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website. Same content.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rebuilds the whole page every click. The other only touches what actually changed.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difference — the Virtual DOM deciding exactly what needs to update — is the core idea behind every React app you'll build from here 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2026-09-14T19:26:52Z</dcterms:created>
  <dcterms:modified xsi:type="dcterms:W3CDTF">2026-09-14T19:26:52Z</dcterms:modified>
</cp:coreProperties>
</file>